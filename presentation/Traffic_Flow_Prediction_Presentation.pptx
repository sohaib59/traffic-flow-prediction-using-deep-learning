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FLOW PREDICTION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2880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Deep Learning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 vs  GRU  vs  Transformer  —  benchmarked on METR-LA (Los Angeles highway sensors)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326880" y="822960"/>
            <a:ext cx="2377440" cy="237744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0" y="4206240"/>
            <a:ext cx="1645920" cy="1645920"/>
          </a:xfrm>
          <a:prstGeom prst="ellipse">
            <a:avLst/>
          </a:prstGeom>
          <a:solidFill>
            <a:srgbClr val="00D4FF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6080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Sohaib  |  AI Automation Engineer  |  Deep Learning Project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Highway Speed From Sensor History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1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06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METR-LA — 207 real loop-detector sensors on LA highways, 5-minute readings, Mar–Jun 2012. This project uses a real 1,025-timestep slice (full 34k-row file needs Google-Drive access unavailable here).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25112" y="169164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12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99432" y="196596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4599432" y="2606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99432" y="3017520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Network-average speed (mph). Speed is the standard forecasting target in the METR-LA literature — congestion shows up as a speed drop through the fundamental traffic-flow relationship.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01584" y="169164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12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75904" y="196596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8375904" y="2606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75904" y="3017520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speed 5 minutes ahead from the last 60 minutes of history + calendar/lag/rolling features. Bonus: extend to 30- and 60-minute horizons.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Diurnal Pattern, Sentinel Missing Values</a:t>
            </a:r>
            <a:endParaRPr lang="en-US" sz="2800" dirty="0"/>
          </a:p>
        </p:txBody>
      </p:sp>
      <p:pic>
        <p:nvPicPr>
          <p:cNvPr id="4" name="Image 0" descr="../outputs/figures/03_hourly_patte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7498080" cy="24963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0" y="1828800"/>
            <a:ext cx="32004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→"/>
            </a:pPr>
            <a:r>
              <a:rPr lang="en-US" sz="135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mph readings (~2.8%) are a sensor-dropout sentinel, not real data</a:t>
            </a:r>
            <a:endParaRPr lang="en-US" sz="1350" dirty="0"/>
          </a:p>
          <a:p>
            <a:pPr marL="342900" indent="-342900">
              <a:buSzPct val="100000"/>
              <a:buChar char="→"/>
            </a:pPr>
            <a:r>
              <a:rPr lang="en-US" sz="135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cluster 55–70 mph (free flow), heavier low-speed tail = congestion</a:t>
            </a:r>
            <a:endParaRPr lang="en-US" sz="1350" dirty="0"/>
          </a:p>
          <a:p>
            <a:pPr marL="342900" indent="-342900">
              <a:buSzPct val="100000"/>
              <a:buChar char="→"/>
            </a:pPr>
            <a:r>
              <a:rPr lang="en-US" sz="135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AM/PM commute dips are visible → motivates hour-of-day features</a:t>
            </a:r>
            <a:endParaRPr lang="en-US" sz="1350" dirty="0"/>
          </a:p>
          <a:p>
            <a:pPr marL="342900" indent="-342900">
              <a:buSzPct val="100000"/>
              <a:buChar char="→"/>
            </a:pPr>
            <a:r>
              <a:rPr lang="en-US" sz="135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sensors are highly correlated (spatial redundancy)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&amp; Feature Engineering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11480" cy="41148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20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1488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NaN → time-aware interpolation (30-min limit) → edge-fill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411480" cy="41148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20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5661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Domain-based clip to [0, 80] mph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663440"/>
            <a:ext cx="411480" cy="41148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663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20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4617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 features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983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hour_sin / hour_cos (cyclical), is_weekend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1828800"/>
            <a:ext cx="411480" cy="41148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20"/>
                </a:solidFill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0372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Lag features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03720" y="21488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t-1, t-2, t-3, t-6, t-12 (5–60 min back)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09360" y="3246120"/>
            <a:ext cx="411480" cy="41148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20"/>
                </a:solidFill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0372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Rolling stats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03720" y="35661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&amp; 60-min rolling mean/std (shift(1), no leakage)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09360" y="4663440"/>
            <a:ext cx="411480" cy="41148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4663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20"/>
                </a:solidFill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03720" y="4617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03720" y="4983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 lookback (12 steps) → 5-min-ahead target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A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Sequence Architectures, Same Inputs &amp; Splits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1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2971800" cy="640080"/>
          </a:xfrm>
          <a:prstGeom prst="roundRect">
            <a:avLst>
              <a:gd name="adj" fmla="val 8571"/>
            </a:avLst>
          </a:prstGeom>
          <a:solidFill>
            <a:srgbClr val="EF4444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3-gate recurrent unit (input, forget, output). Strong at long-range dependencies.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394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head → speed (mph)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169164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1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1965960"/>
            <a:ext cx="2971800" cy="640080"/>
          </a:xfrm>
          <a:prstGeom prst="roundRect">
            <a:avLst>
              <a:gd name="adj" fmla="val 8571"/>
            </a:avLst>
          </a:prstGeom>
          <a:solidFill>
            <a:srgbClr val="22C55E">
              <a:alpha val="1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19659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99432" y="283464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2-gate recurrent unit (update, reset). Fewer parameters → less overfitting on small data.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99432" y="5394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head → speed (mph)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1584" y="169164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12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1965960"/>
            <a:ext cx="2971800" cy="640080"/>
          </a:xfrm>
          <a:prstGeom prst="roundRect">
            <a:avLst>
              <a:gd name="adj" fmla="val 8571"/>
            </a:avLst>
          </a:prstGeom>
          <a:solidFill>
            <a:srgbClr val="00D4FF">
              <a:alpha val="1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375904" y="19659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75904" y="283464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+ positional encoding. No recurrent bias — needs more data to shine.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75904" y="5394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head → speed (mph)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Tuning (LSTM &amp; GRU)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grid search — hidden_size × num_layers, selected by validation MSE. Kept deliberately small: with ~700 training sequences, an exhaustive search tunes to validation noise more than it informs architecture choice.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51760"/>
          <a:ext cx="7772400" cy="164592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17373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hidden_size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num_layers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MSE (best)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0.00151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0.00105  ⭐ best overall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../outputs/figures/05_val_loss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663440"/>
            <a:ext cx="7772400" cy="1737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AB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 Wins Clearly on the Held-out Test Set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698480" cy="1737360"/>
        </p:xfrm>
        <a:graphic>
          <a:graphicData uri="http://schemas.openxmlformats.org/drawingml/2006/table">
            <a:tbl>
              <a:tblPr/>
              <a:tblGrid>
                <a:gridCol w="3200400"/>
                <a:gridCol w="1874520"/>
                <a:gridCol w="1874520"/>
                <a:gridCol w="1874520"/>
                <a:gridCol w="187452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(mph)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(mph)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(%)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../outputs/figures/06_metrics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0"/>
            <a:ext cx="11247120" cy="24963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GRU Wins Here</a:t>
            </a:r>
            <a:endParaRPr lang="en-US" sz="2800" dirty="0"/>
          </a:p>
        </p:txBody>
      </p:sp>
      <p:pic>
        <p:nvPicPr>
          <p:cNvPr id="4" name="Image 0" descr="../outputs/figures/07_actual_vs_predi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669280" cy="40507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2240" y="173736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→"/>
            </a:pPr>
            <a:r>
              <a:rPr lang="en-US" sz="135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has ~25% fewer parameters than LSTM at the same hidden size → lower-variance fit on only ~700 training sequences</a:t>
            </a:r>
            <a:endParaRPr lang="en-US" sz="1350" dirty="0"/>
          </a:p>
          <a:p>
            <a:pPr marL="342900" indent="-342900">
              <a:buSzPct val="100000"/>
              <a:buChar char="→"/>
            </a:pPr>
            <a:r>
              <a:rPr lang="en-US" sz="135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LSTM's extra cell-state gate is built for long dependencies — barely used by a 60-min lookback, so it mostly adds noise here</a:t>
            </a:r>
            <a:endParaRPr lang="en-US" sz="1350" dirty="0"/>
          </a:p>
          <a:p>
            <a:pPr marL="342900" indent="-342900">
              <a:buSzPct val="100000"/>
              <a:buChar char="→"/>
            </a:pPr>
            <a:r>
              <a:rPr lang="en-US" sz="135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has no recurrent inductive bias — needs far more data to learn temporal locality from scratch</a:t>
            </a:r>
            <a:endParaRPr lang="en-US" sz="1350" dirty="0"/>
          </a:p>
          <a:p>
            <a:pPr marL="342900" indent="-342900">
              <a:buSzPct val="100000"/>
              <a:buChar char="→"/>
            </a:pPr>
            <a:r>
              <a:rPr lang="en-US" sz="135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this ranking to shift toward Transformer on the full 34k-row dataset with a graph-aware spatial component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 &amp; Where This Goes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141C2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 line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limited data, GRU is the pragmatic choice for short-horizon forecasting. Transformers need volume — and ideally spatial structure — to earn their flexibility.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 delivered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and 60-min direct multi-step GRU forecasts, with error growing predictably with horizon length.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141C2E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0" y="242316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the full 34,272-row METR-LA release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 network (DCRNN / Graph WaveNet) to model all 207 sensors jointly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Recursive/seq2seq decoder for longer multi-step horizons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saved models in a live Streamlit dashboard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Traffic Flow Prediction Using Deep Learning</dc:title>
  <dc:subject>PptxGenJS Presentation</dc:subject>
  <dc:creator>Sohaib</dc:creator>
  <cp:lastModifiedBy>Sohaib</cp:lastModifiedBy>
  <cp:revision>1</cp:revision>
  <dcterms:created xsi:type="dcterms:W3CDTF">2026-07-09T08:40:53Z</dcterms:created>
  <dcterms:modified xsi:type="dcterms:W3CDTF">2026-07-09T08:40:53Z</dcterms:modified>
</cp:coreProperties>
</file>